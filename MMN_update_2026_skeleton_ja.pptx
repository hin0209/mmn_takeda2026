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Yu Gothic"/>
                <a:ea typeface="Yu Gothic"/>
              </a:rPr>
              <a:t>新ガイドラインを踏まえた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Yu Gothic"/>
                <a:ea typeface="Yu Gothic"/>
              </a:rPr>
              <a:t>多巣性運動ニューロパチーのアップデート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10515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FDDEC"/>
                </a:solidFill>
                <a:latin typeface="Yu Gothic"/>
                <a:ea typeface="Yu Gothic"/>
              </a:rPr>
              <a:t>天理よろづ相談所病院 神経筋疾患センター・脳神経内科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野寺 裕之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AFC5DD"/>
                </a:solidFill>
                <a:latin typeface="Yu Gothic"/>
                <a:ea typeface="Yu Gothic"/>
              </a:rPr>
              <a:t>武田薬品工業 全国研究会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3504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FA8C2"/>
                </a:solidFill>
                <a:latin typeface="Yu Gothic"/>
                <a:ea typeface="Yu Gothic"/>
              </a:rPr>
              <a:t>※ 骨子案（figure/データは要挿入・出典明記、国内未承認薬は適応外注記）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DISCLOSURE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COI の開示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20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2000" b="1">
                <a:solidFill>
                  <a:srgbClr val="222222"/>
                </a:solidFill>
                <a:latin typeface="Yu Gothic"/>
                <a:ea typeface="Yu Gothic"/>
              </a:rPr>
              <a:t>演者氏名： 野寺 裕之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600" b="0">
                <a:solidFill>
                  <a:srgbClr val="555555"/>
                </a:solidFill>
                <a:latin typeface="Yu Gothic"/>
                <a:ea typeface="Yu Gothic"/>
              </a:rPr>
              <a:t>天理よろづ相談所病院 神経筋疾患センター長／脳神経内科 副部長</a:t>
            </a:r>
          </a:p>
          <a:p>
            <a:pPr>
              <a:spcBef>
                <a:spcPts val="10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本講演に関連し、開示すべき COI 関係にある企業等の有無：（記入）</a:t>
            </a:r>
          </a:p>
          <a:p>
            <a:pPr>
              <a:spcBef>
                <a:spcPts val="1400"/>
              </a:spcBef>
              <a:spcAft>
                <a:spcPts val="700"/>
              </a:spcAft>
            </a:pPr>
            <a:r>
              <a:rPr sz="1300" b="0">
                <a:solidFill>
                  <a:srgbClr val="555555"/>
                </a:solidFill>
                <a:latin typeface="Yu Gothic"/>
                <a:ea typeface="Yu Gothic"/>
              </a:rPr>
              <a:t>＊本スライドは骨子。実際の COI 状態に合わせて記載してください。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本日の内容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MMN とは — 疾患概要・疫学・病態のアップデート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日本全国調査2024、補体（C2依存性）が病態の中心へ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診断のアップデートと「新ガイドライン」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診断基準の再検討（CBを超えて）、EAN/PNS 新ガイドライン近刊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治療のアップデート —「本命」補体阻害薬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empasiprubart（ARDA/EMPASSION）ほか、新規IgG療法への接続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463040" cy="762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0" b="1">
                <a:solidFill>
                  <a:srgbClr val="3E6A99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Yu Gothic"/>
                <a:ea typeface="Yu Gothic"/>
              </a:rPr>
              <a:t>MMN 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BBD3EA"/>
                </a:solidFill>
                <a:latin typeface="Yu Gothic"/>
                <a:ea typeface="Yu Gothic"/>
              </a:rPr>
              <a:t>疾患概要・疫学・病態のアップデート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1｜疾患概要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疾患概念 — 純粋運動性の免疫介在性ニューロパチー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感覚障害を伴わない、左右非対称・上肢遠位優位の筋力低下と筋萎縮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緩徐〜階段状進行。運動神経伝導ブロック（CB）が特徴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約半数で抗GM1 IgM抗体陽性、IVIgが有効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cold paresis（寒冷麻痺）が83%（CIDP/PMAの4〜6倍）— 補助的特徴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鑑別の要は ALS/運動ニューロン疾患、および multifocal CIDP（MADSAM/LSS）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ALSとの臨床鑑別：筋萎縮に不釣合いな筋力低下、球麻痺なし、UMN徴候なし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出典：Claytor et al. Muscle Nerve 2025; 71:512-534／日本CIDP/MMN診療ガイドライン2024 等より作図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1｜疫学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疫学 — 日本全国調査2024（正式論文化）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全国推定患者数 約500名／有病率 0.4（人口10万対）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男女比 2:1、平均発症年齢 42歳（男性が若年発症）、上肢遠位に初発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抗GM1 IgM陽性率 約54%（英国22.7%・蘭/墺43%より高い）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海外の有病率は 0.3〜0.7/10万（希少疾患）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HLA-DRB1*15 が高頻度（遺伝的背景）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出典：Aotsuka Y, et al. Multifocal motor neuropathy in Japan. Muscle Nerve 2024;70:1027-1033 等より作図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1｜病態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病態① — nodopathy / paranodopathy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CBの本態は「局所脱髄」から「ランビエ絞輪の機能障害」へ（Uncini）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paranodeミエリン剝離・絞輪伸長・Navチャネル障害・イオン恒常性破綻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神経興奮性研究：CB遠位で過分極、活動依存性CB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cold paresis は Na⁺/K⁺ポンプの温度感受性で説明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▶ </a:t>
            </a: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→ 「脱髄」だけでなく軸索・イオンチャネル機能障害という枠組み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出典：Uncini A, Kuwabara S. J Neurol Neurosurg Psychiatry 2015;86:1186-95 等より作図（既存デッキの図を流用可）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1｜病態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病態② — 抗GM1 IgM と補体（C2依存性）＝治療標的の伏線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抗GM1 IgM が古典経路（classical pathway）のみで補体を活性化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iPS由来運動ニューロンで補体依存性にCa恒常性破綻→軸索障害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【添付論文】MMN/抗MAG 51例のIgMによる補体活性化は全例 C2依存性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抗C2抗体で用量依存的に阻害、「C2バイパス」なし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▶ </a:t>
            </a: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→ C2 が有望な治療標的（＝empasiprubart の科学的基盤）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出典：Budding K, et al. Complement activation ... depends on C2. Eur J Neurol 2025;32:e16541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1｜病態（新）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病態③ — 補体活性化は臨床像と相関、阻害薬の前臨床根拠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MMN 137例の血清 × iPS由来運動ニューロンモデル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IgM結合↑→C3沈着↑が、筋力低下(MRC)・必要IVIg用量・軸索障害の程度と相関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補体活性化は振動覚異常・腕神経叢MRI異常とも相関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IVIgは補体活性化を34–54%しか抑制しない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▶ </a:t>
            </a: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特異的補体阻害薬はモデルで89.1–98.7%抑制 → 補体阻害の前臨床的根拠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出典：Krijgsman D, … van der Pol WL. Neurol Neuroimmunol Neuroinflamm 2026;13(1):e200482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1｜病態（新）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病態④ — 血液神経関門(BNB)と軸索膜（本邦グループの知見）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患者IgGによる血液神経関門(BNB)破綻：CIDPと分子機序が異なる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MMNでは内皮のTNF-α・VCAM-1上昇が主体（典型CIDPはCCL20/ICAM-1、多巣性CIDPはGM-CSF等）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軸索膜の不安定性：fast K⁺電流低下・superexcitability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paranodeミエリンの緩みを示唆、不随意指運動例でより顕著</a:t>
            </a:r>
          </a:p>
          <a:p>
            <a:pPr lvl="1">
              <a:spcBef>
                <a:spcPts val="6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▶ </a:t>
            </a:r>
            <a:r>
              <a:rPr sz="1500" b="1">
                <a:solidFill>
                  <a:srgbClr val="2E6DA4"/>
                </a:solidFill>
                <a:latin typeface="Yu Gothic"/>
                <a:ea typeface="Yu Gothic"/>
              </a:rPr>
              <a:t>→ MMNは「CB＋軸索」だけでなく、より広汎な有髄線維障害のスペクトラム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出典：Shimizu F, et al. Int J Mol Sci 2026;27(2):1088（本邦）／Krarup C, et al. Clin Neurophysiol 2025;173:229-238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463040" cy="762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0" b="1">
                <a:solidFill>
                  <a:srgbClr val="3E6A99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Yu Gothic"/>
                <a:ea typeface="Yu Gothic"/>
              </a:rPr>
              <a:t>診断のアップデート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BBD3EA"/>
                </a:solidFill>
                <a:latin typeface="Yu Gothic"/>
                <a:ea typeface="Yu Gothic"/>
              </a:rPr>
              <a:t>診断基準の再検討と EAN/PNS 新ガイドライン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2｜診断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診断プロセスと現行 EFNS/PNS 2010 基準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臨床：2神経以上・1か月以上の非対称性運動麻痺、客観的感覚障害なし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支持：上肢優位・腱反射低下・脳神経正常・筋痙攣/線維束収縮・免疫療法反応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電気診断：絞扼部以外での definite/probable CB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補助：抗GM1 IgM、末梢神経肥厚（エコー/MRI）、軽度CSF蛋白上昇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疑い例では IVIg 診断的治療で反応性を確認することもしばしば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出典：Joint Task Force EFNS/PNS. J Peripher Nerv Syst 2010;15:295-301（表を流用）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2｜診断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診断アップデート① — 基準の感度比較（Doneddu 2024）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EFNS/PNS 2010 vs AANEM：MMN 53例 vs 対照280例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感度：EFNS/PNS 47%（definite）/57%（prob+def）＞ AANEM 28%/53%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支持基準を加えると EFNS/PNS の prob+def 感度は 64% に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特異度：AANEM 100%、EFNS/PNS 97〜98.5%（ともに高い）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▶ </a:t>
            </a: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→ EFNS/PNSは高感度・わずかに低特異度。NCSの拡張（多神経検索）を推奨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出典：Doneddu PE, et al. Eur J Neurol 2024;31:e16444／同 Italian database 2024;31:e16248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2｜診断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診断アップデート② — CBを超えた「拡張基準」（Doneddu 2025）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MMN 70例 vs 対照359例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CBのない区間でも71%にCB以外の伝導異常（時間的分散47%・遠位CMAP持続延長31%・CV低下26% 等）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これらを取り込むと prob/def 感度が +26%（p&lt;0.001）、特異度低下は最小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▶ </a:t>
            </a: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「CBが唯一の脱髄指標ではない」— 新ガイドライン改訂の論点に</a:t>
            </a:r>
          </a:p>
          <a:p>
            <a:pPr lvl="1">
              <a:spcBef>
                <a:spcPts val="6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関連：CB定義のばらつき／CB依存度への問題提起が相次ぐ（2025 レター）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出典：Doneddu PE, et al. Nerve Conduction Abnormalities Beyond CB in MMN. Eur J Neurol 2025;32:e70300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2｜診断（新）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診断アップデート③ — 実データが示す電気診断の最適化（2025）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CB定義は「振幅30%減」が「面積30%減」より高感度（78.7% vs 63.8%）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▶ </a:t>
            </a: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CB(振幅)＋時間的分散(TD)＋F波延長/消失を独立指標にすると感度78.7→91.5%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TDは感度59.6%/特異度94.3%、F波異常は感度42.6%/特異度96.9%（英・韓 多施設）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予後：IVIg反応不良例は発症時から罹患神経数が多くTDが多い（CB単独では判別不可）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2E6DA4"/>
                </a:solidFill>
                <a:latin typeface="Yu Gothic"/>
                <a:ea typeface="Yu Gothic"/>
              </a:rPr>
              <a:t>→ CBだけでなくTD・F波・罹患神経数を系統的に評価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出典：Rajabally YA, et al. Eur J Neurol 2025;32:e70361／Posa A, et al. IBRO Neurosci Rep 2026;20:474-479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2｜診断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画像・バイオマーカーのアップデート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神経エコー：非対称性の神経腫大を高感度に検出、ALS鑑別に有用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低コスト・非侵襲。narrative reviewは「可能なら第一選択の画像」と提言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MR neurography：神経腫大は MADSAM で顕著、MMNで乏しい→鑑別の手がかり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バイオマーカー：血清NfL は ALS＜ 鑑別補助、peripherin（軸索障害）も注目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2E6DA4"/>
                </a:solidFill>
                <a:latin typeface="Yu Gothic"/>
                <a:ea typeface="Yu Gothic"/>
              </a:rPr>
              <a:t>現行 EFNS/PNS はエコー記載なし → 新GLでの正式採用が期待される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出典：Pitman J, et al. Muscle Nerve 2024;71:293-308／Karam C. Muscle Nerve 2025;73:86-92 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2｜診断（新）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神経エコー — MMN・純粋運動CIDP・典型CIDPは連続スペクトラム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MMN19／motor CIDP15／典型CIDP117 を神経エコー＋NCSで比較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神経断面積(CSA)：典型CIDP＞MPred-CIDP＞PM-CIDP＞MMN の順で小さくなる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伝導速度は逆順（MMNで最も速い）→ 3疾患は連続スペクトラム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motor CIDPは腕神経叢が近位優位に腫大（MMN・典型CIDPは均等）</a:t>
            </a:r>
          </a:p>
          <a:p>
            <a:pPr lvl="1">
              <a:spcBef>
                <a:spcPts val="6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▶ </a:t>
            </a:r>
            <a:r>
              <a:rPr sz="1500" b="1">
                <a:solidFill>
                  <a:srgbClr val="2E6DA4"/>
                </a:solidFill>
                <a:latin typeface="Yu Gothic"/>
                <a:ea typeface="Yu Gothic"/>
              </a:rPr>
              <a:t>→ エコー＋NCS＋治療反応で疾患スペクトラム上の位置づけが可能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出典：Niu J, et al. Nerve Ultrasound of MMN and Motor/Typical CIDP. Can J Neurol Sci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2｜診断（新）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鑑別診断 — 手初発ALS と 運動優位ニューロパチー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MMN vs 手初発ALS（Fang 2026）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MMNは若年発症(43 vs 59歳)・低CK・高IgM。CBはMMN 87.5% vs 手初発ALS 31%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手初発ALSの約1/3でCK上昇、MMNは全例CK正常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LMND様重症運動ニューロパチーで新規セプチン多量体自己抗体（Arlt 2026, Brain）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MMN検証群は陰性だが、運動優位ニューロパチー×LMND鑑別で今後注目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出典：Fang SY, et al. J Chin Med Assoc 2026;89:437-444／Arlt FA, et al. Brain 2026;awag183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2｜診断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診断遅延・誤診の実態 —「気づかれない」MMN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英国多施設調査：初診からの診断遅延が50%超で1年以上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argenxグローバル医師調査（250名/9か国）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約70%が別の末梢神経疾患と最初に誤診（ALS誤診50%、CIDP51%）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31%はどのガイドラインも参照せず、1/3がステロイドを1st-line（非推奨）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診断遅延：医師推計 約1.75年／患者報告 約6年（両者に乖離、両方提示）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出典：Rajabally YA, et al. JPNS 2025;30:e70018／argenx PNS 2025 ポスター（医師・患者調査）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2｜新ガイドライン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新ガイドライン — EAN/PNS MMN ガイドライン（近刊）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現行標準は依然 2010年 EFNS/PNS 第1改訂版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改訂版：Task Force chair S. Goedee（Utrecht）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EAN公式は「Guideline Proposal accepted（初期段階）」、2025–2026発刊見込み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＊正式な発刊日・内容は未公開 → 本項は「予想」として提示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予想される変更点（未確定）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CB以外の伝導異常の位置づけ／神経エコーの支持基準採用／SCIg・補体阻害への言及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出典：EAN Ongoing Guidelines（ean.org）。発表直前に発刊状況の再確認を推奨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2｜新ガイドライン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参考：2021 EAN/PNS CIDPガイドライン と 日本GL2024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2021 CIDPガイドライン：「atypical CIDP」→「CIDP variants」に整理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Lewis-Sumner/MADSAM は「multifocal CIDP」と改称 → MMNとの厳密な鑑別が重要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日本GL2024（要点）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IVIg導入(1C)・維持(1B)を強く推奨、SCIg維持は条件付き(2C・国内保険適用外)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免疫抑制療法は行わないことを強く推奨(1B)、ステロイドは増悪例あり非推奨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▶ </a:t>
            </a:r>
            <a:r>
              <a:rPr sz="1500" b="0">
                <a:solidFill>
                  <a:srgbClr val="2E6DA4"/>
                </a:solidFill>
                <a:latin typeface="Yu Gothic"/>
                <a:ea typeface="Yu Gothic"/>
              </a:rPr>
              <a:t>補体阻害薬・FcRnは「今後の臨床試験に期待」→ 次章が最新の続報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出典：Van den Bergh PYK, et al. EAN/PNS CIDP guideline 2021／日本CIDP/MMN診療ガイドライン2024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463040" cy="762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0" b="1">
                <a:solidFill>
                  <a:srgbClr val="3E6A99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Yu Gothic"/>
                <a:ea typeface="Yu Gothic"/>
              </a:rPr>
              <a:t>治療のアップデート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BBD3EA"/>
                </a:solidFill>
                <a:latin typeface="Yu Gothic"/>
                <a:ea typeface="Yu Gothic"/>
              </a:rPr>
              <a:t>「本命」補体阻害薬と新規IgG療法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3｜治療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治療の現状と限界 — IVIg / SCIg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IVIgは唯一の承認治療・第一選択（実臨床の奏効率は高い：英国97.8%）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SCIgはIVIgと同等の有効性・良好な忍容性（国内は未承認）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限界：維持療法下でも軸索変性が緩徐に進行、経時的に効果減弱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約90%の患者が維持IVIg下でも軸索変性が進行（患者調査）</a:t>
            </a:r>
          </a:p>
          <a:p>
            <a:pPr lvl="1">
              <a:spcBef>
                <a:spcPts val="600"/>
              </a:spcBef>
              <a:spcAft>
                <a:spcPts val="700"/>
              </a:spcAft>
            </a:pP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▶ </a:t>
            </a: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→ 病態を修飾する新規治療（補体阻害）への強い期待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出典：Rajabally YA, et al. JPNS 2025;30:e70018／Claytor et al. Muscle Nerve 2025 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3｜治療（新）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IVIg の最適化と長期アウトカム（2025–2026）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高頻度IVIg（年2回超）で遠位CMAP振幅・mRSが有意改善、CB数も減少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過少治療だった症例でも改善余地（B=2.88, P&lt;0.001／中国・地方3施設）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個別最適化用量で MMN-RODS が90.6%(29/32)で6年以上改善維持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従来の「経時的に低下」像と対照的。用量は施設間差大（18.8〜33.9 g/週）</a:t>
            </a:r>
          </a:p>
          <a:p>
            <a:pPr lvl="1">
              <a:spcBef>
                <a:spcPts val="6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▶ </a:t>
            </a:r>
            <a:r>
              <a:rPr sz="1500" b="1">
                <a:solidFill>
                  <a:srgbClr val="2E6DA4"/>
                </a:solidFill>
                <a:latin typeface="Yu Gothic"/>
                <a:ea typeface="Yu Gothic"/>
              </a:rPr>
              <a:t>→ 早期・十分量・個別最適化が鍵（減量判断のLLM支援も報告）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出典：Zhou L, et al. BMC Neurol 2026／Noushad MA, et al. JPNS 2025;30:e70079／Burton E, et al. Transfus Med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3｜治療（新）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残された課題 — 非運動症状の負担 と SCIg の実際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6年追跡：運動障害(INCAT)は安定だが、疲労17→58%・うつ8→25%に増悪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免疫治療は運動を安定させるが非運動症状は防げない → 疲労・メンタルのスクリーニング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IVIg→SCIg 切替：MMNの77%が12か月継続・安定、満足度高い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ただし40%で増量など治療強化が必要（本邦は保険適用外）</a:t>
            </a:r>
          </a:p>
          <a:p>
            <a:pPr lvl="1">
              <a:spcBef>
                <a:spcPts val="6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▶ </a:t>
            </a:r>
            <a:r>
              <a:rPr sz="1500" b="1">
                <a:solidFill>
                  <a:srgbClr val="2E6DA4"/>
                </a:solidFill>
                <a:latin typeface="Yu Gothic"/>
                <a:ea typeface="Yu Gothic"/>
              </a:rPr>
              <a:t>→ 多職種での包括的マネジメントとSCIgという在宅選択肢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出典：Basta I, et al. Front Hum Neurosci 2026;20:1824742／Gingele S, et al. Neurol Ther 2026;15:165-177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3｜治療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なぜ補体阻害か —「本命」の病態的根拠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抗GM1 IgM →（古典経路・C2依存性）→ 補体活性化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ランビエ絞輪で膜侵襲複合体(MAC)形成 → Navチャネル障害・軸索障害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IVIgは補体沈着を減らすが不十分 → 上流での選択的補体阻害が合理的</a:t>
            </a:r>
          </a:p>
          <a:p>
            <a:pPr>
              <a:spcBef>
                <a:spcPts val="10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▶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開発の主戦場は C2（empasiprubart）と 活性化C1s（DNTH103）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300" b="0">
                <a:solidFill>
                  <a:srgbClr val="555555"/>
                </a:solidFill>
                <a:latin typeface="Yu Gothic"/>
                <a:ea typeface="Yu Gothic"/>
              </a:rPr>
              <a:t>＊いずれも国内未承認・臨床試験段階（適応外）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出典：Budding K, et al. Eur J Neurol 2025;32:e16541 ほか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3｜治療（新）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補体が本命、FcRn阻害はMMNには不向き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FcRn阻害（nipocalimab, efgartigimod, rozanolixizumab）はIgG自己抗体病で有効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重症筋無力症で確立、CIDPで開発中（efgartigimodは再発予防効果）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MMNではFcRn阻害は無効と考えられる ── MMNが主にIgM介在性の病態のため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▶ </a:t>
            </a: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MMNは「IgM × 補体」主導 → 標的は補体（C2 / 活性化C1s）が理にかなう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300" b="0">
                <a:solidFill>
                  <a:srgbClr val="555555"/>
                </a:solidFill>
                <a:latin typeface="Yu Gothic"/>
                <a:ea typeface="Yu Gothic"/>
              </a:rPr>
              <a:t>＊FcRn阻害薬・補体阻害薬とも国内はMMN未承認（適応外）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出典：Khateb M, Bril V. Nipocalimab and other FcRn blockers in neuromuscular disorders. Pharmacol Ther 2026;286:109071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3｜治療（本命）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empasiprubart（抗C2）— 第2相 ARDA 試験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対象：IVIg依存の probable/definite MMN 計54名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27名×2コホート、各2:1（実薬n=18/プラセボn=9）、16週二重盲検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1F3A5F"/>
                </a:solidFill>
                <a:latin typeface="Yu Gothic"/>
                <a:ea typeface="Yu Gothic"/>
              </a:rPr>
              <a:t>主要結果（EAN2025/PNS2025）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1">
                <a:solidFill>
                  <a:srgbClr val="2E7D32"/>
                </a:solidFill>
                <a:latin typeface="Yu Gothic"/>
                <a:ea typeface="Yu Gothic"/>
              </a:rPr>
              <a:t>IVIg再投与リスク 約91%減：コホート1 HR 0.09（95%CI 0.02–0.44）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握力改善（コホート2：+19.89 vs +0.78 kPa）、血清NfL低下（軸索保護示唆）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安全性は概ね良好（多くは軽〜中等度）。MMNで過去最大の介入試験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出典：ARDA 第2相（NCT05225675）argenx PNS 2025 ポスター。査読論文化は要確認・国内未承認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3｜治療（本命）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empasiprubart — 第3相 EMPASSION／他の補体阻害薬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EMPASSION（NCT06742190）：empasiprubart vs IVIg、約154名、進行中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主要評価は握力変化（CT.gov）／MMN-RODS（企業資料）で出典間に食い違い→要確認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DNTH103（抗活性化C1s、皮下・2週毎）：第2相 MoMeNtum（MMN36名）、2H2026データ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riliprubart（抗C1s, Sanofi）はMMN非対象（CIDP専用・難治CIDP第3相は無益性中止）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eculizumab（抗C5）は小規模オープン試験で効果限定的（上流阻害へ主流移行）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出典：ClinicalTrials.gov（NCT06742190/NCT06537999）／Sanofi press 2026／Fitzpatrick 2011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3｜治療（本命）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補体阻害薬の一覧（MMN）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455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828800"/>
                <a:gridCol w="1645920"/>
                <a:gridCol w="2194560"/>
                <a:gridCol w="2130552"/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薬剤</a:t>
                      </a:r>
                    </a:p>
                  </a:txBody>
                  <a:tcPr anchor="ctr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標的</a:t>
                      </a:r>
                    </a:p>
                  </a:txBody>
                  <a:tcPr anchor="ctr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経路</a:t>
                      </a:r>
                    </a:p>
                  </a:txBody>
                  <a:tcPr anchor="ctr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投与</a:t>
                      </a:r>
                    </a:p>
                  </a:txBody>
                  <a:tcPr anchor="ctr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MMN試験</a:t>
                      </a:r>
                    </a:p>
                  </a:txBody>
                  <a:tcPr anchor="ctr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段階/結果</a:t>
                      </a:r>
                    </a:p>
                  </a:txBody>
                  <a:tcPr anchor="ctr">
                    <a:solidFill>
                      <a:srgbClr val="2E6DA4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empasiprubart</a:t>
                      </a:r>
                    </a:p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(ARGX-117)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C2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古典＋レクチン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静注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ARDA(P2)→</a:t>
                      </a:r>
                    </a:p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EMPASSION(P3)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E7D32"/>
                          </a:solidFill>
                          <a:latin typeface="Yu Gothic"/>
                          <a:ea typeface="Yu Gothic"/>
                        </a:rPr>
                        <a:t>IVIg再投与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2E7D32"/>
                          </a:solidFill>
                          <a:latin typeface="Yu Gothic"/>
                          <a:ea typeface="Yu Gothic"/>
                        </a:rPr>
                        <a:t>約91%減／P3進行中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DNTH103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活性化C1s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古典のみ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皮下・2週毎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MoMeNtum(P2)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募集中／2H2026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riliprubart</a:t>
                      </a:r>
                    </a:p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(SAR445088)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C1s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古典のみ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静注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なし（CIDP専用）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難治CIDP第3相は中止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eculizumab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C5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終末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静注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小規模オープン</a:t>
                      </a:r>
                    </a:p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(2011)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Yu Gothic"/>
                          <a:ea typeface="Yu Gothic"/>
                        </a:rPr>
                        <a:t>効果限定的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Yu Gothic"/>
                <a:ea typeface="Yu Gothic"/>
              </a:rPr>
              <a:t>＊すべて国内未承認・臨床試験段階（適応外）。数値は学会発表主体で査読論文化は要確認。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出典：ClinicalTrials.gov／argenx・Sanofi 学会発表・press（2024–2026）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3｜治療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新規 IgG 療法への接続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IgG補充療法の選択肢：IVIg／従来SCIg／facilitated SCIg（fSCIG）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在宅自己注射・全身性副作用の軽減・通院負担の低減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>
                <a:solidFill>
                  <a:srgbClr val="555555"/>
                </a:solidFill>
                <a:latin typeface="Yu Gothic"/>
                <a:ea typeface="Yu Gothic"/>
              </a:rPr>
              <a:t>– </a:t>
            </a:r>
            <a:r>
              <a:rPr sz="1500" b="0">
                <a:solidFill>
                  <a:srgbClr val="555555"/>
                </a:solidFill>
                <a:latin typeface="Yu Gothic"/>
                <a:ea typeface="Yu Gothic"/>
              </a:rPr>
              <a:t>（本邦の適応・製剤の位置づけは各製品情報に準拠）</a:t>
            </a:r>
          </a:p>
          <a:p>
            <a:pPr>
              <a:spcBef>
                <a:spcPts val="10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▶ </a:t>
            </a: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＝ ここから既存デッキの企業パート（新規IgG製剤スライド）へ接続</a:t>
            </a:r>
          </a:p>
          <a:p>
            <a:pPr>
              <a:spcBef>
                <a:spcPts val="800"/>
              </a:spcBef>
              <a:spcAft>
                <a:spcPts val="700"/>
              </a:spcAft>
            </a:pPr>
            <a:r>
              <a:rPr sz="1300" b="0">
                <a:solidFill>
                  <a:srgbClr val="555555"/>
                </a:solidFill>
                <a:latin typeface="Yu Gothic"/>
                <a:ea typeface="Yu Gothic"/>
              </a:rPr>
              <a:t>＊製品スライドは適応・注意事項・COIに従い挿入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※ 既存30枚デッキの slide 19–30（HyQvia 等）を後続に配置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09728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まとめ — Take home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MMNは誤診・診断遅延が多い（ALS誤診50%）— 純粋運動・非対称・CBを想起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診断はCB至上主義から拡張へ：CB以外の伝導異常＋神経エコー＋NfLが補助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新ガイドライン（EAN/PNS）が近刊予定 — 診断基準・エコー・治療の更新に注目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病態の中心は補体（C2依存性）活性化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800" b="1">
                <a:solidFill>
                  <a:srgbClr val="2E7D32"/>
                </a:solidFill>
                <a:latin typeface="Yu Gothic"/>
                <a:ea typeface="Yu Gothic"/>
              </a:rPr>
              <a:t>▶ </a:t>
            </a:r>
            <a:r>
              <a:rPr sz="1800" b="1">
                <a:solidFill>
                  <a:srgbClr val="2E7D32"/>
                </a:solidFill>
                <a:latin typeface="Yu Gothic"/>
                <a:ea typeface="Yu Gothic"/>
              </a:rPr>
              <a:t>本命：補体阻害薬 empasiprubart がIVIg再投与を約91%減（第3相進行中）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800" b="1">
                <a:solidFill>
                  <a:srgbClr val="2E6DA4"/>
                </a:solidFill>
                <a:latin typeface="Yu Gothic"/>
                <a:ea typeface="Yu Gothic"/>
              </a:rPr>
              <a:t>● </a:t>
            </a: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IVIg/SCIg（新規IgG療法）は引き続き治療の基盤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5555"/>
                </a:solidFill>
                <a:latin typeface="Yu Gothic"/>
                <a:ea typeface="Yu Gothic"/>
              </a:rPr>
              <a:t>国内未承認薬・臨床試験段階のデータを含みます（適応外）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主要文献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1">
                <a:solidFill>
                  <a:srgbClr val="2E6DA4"/>
                </a:solidFill>
                <a:latin typeface="Yu Gothic"/>
                <a:ea typeface="Yu Gothic"/>
              </a:rPr>
              <a:t>1. </a:t>
            </a: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Claytor B, Polston D, Li Y. MMN: A Narrative Review. Muscle Nerve 2025;71:512-534.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1">
                <a:solidFill>
                  <a:srgbClr val="2E6DA4"/>
                </a:solidFill>
                <a:latin typeface="Yu Gothic"/>
                <a:ea typeface="Yu Gothic"/>
              </a:rPr>
              <a:t>2. </a:t>
            </a: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Rajabally YA, et al. Diagnosis and Management of MMN in the UK. JPNS 2025;30:e70018.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1">
                <a:solidFill>
                  <a:srgbClr val="2E6DA4"/>
                </a:solidFill>
                <a:latin typeface="Yu Gothic"/>
                <a:ea typeface="Yu Gothic"/>
              </a:rPr>
              <a:t>3. </a:t>
            </a: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Budding K, et al. Complement activation by IgM ... depends on C2. Eur J Neurol 2025;32:e16541.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1">
                <a:solidFill>
                  <a:srgbClr val="2E6DA4"/>
                </a:solidFill>
                <a:latin typeface="Yu Gothic"/>
                <a:ea typeface="Yu Gothic"/>
              </a:rPr>
              <a:t>4. </a:t>
            </a: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日本神経学会ほか. CIDP/MMN 診療ガイドライン2024.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1">
                <a:solidFill>
                  <a:srgbClr val="2E6DA4"/>
                </a:solidFill>
                <a:latin typeface="Yu Gothic"/>
                <a:ea typeface="Yu Gothic"/>
              </a:rPr>
              <a:t>5. </a:t>
            </a: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Aotsuka Y, et al. MMN in Japan: nationwide survey. Muscle Nerve 2024;70:1027-1033.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1">
                <a:solidFill>
                  <a:srgbClr val="2E6DA4"/>
                </a:solidFill>
                <a:latin typeface="Yu Gothic"/>
                <a:ea typeface="Yu Gothic"/>
              </a:rPr>
              <a:t>6. </a:t>
            </a: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Doneddu PE, et al. EFNS/PNS vs AAEM criteria. Eur J Neurol 2024;31:e16444.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1">
                <a:solidFill>
                  <a:srgbClr val="2E6DA4"/>
                </a:solidFill>
                <a:latin typeface="Yu Gothic"/>
                <a:ea typeface="Yu Gothic"/>
              </a:rPr>
              <a:t>7. </a:t>
            </a: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Doneddu PE, et al. NCS Abnormalities Beyond CB in MMN. Eur J Neurol 2025;32:e70300.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1">
                <a:solidFill>
                  <a:srgbClr val="2E6DA4"/>
                </a:solidFill>
                <a:latin typeface="Yu Gothic"/>
                <a:ea typeface="Yu Gothic"/>
              </a:rPr>
              <a:t>8. </a:t>
            </a: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Van den Bergh PYK, et al. EAN/PNS CIDP guideline (2nd revision) 2021.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1">
                <a:solidFill>
                  <a:srgbClr val="2E6DA4"/>
                </a:solidFill>
                <a:latin typeface="Yu Gothic"/>
                <a:ea typeface="Yu Gothic"/>
              </a:rPr>
              <a:t>9. </a:t>
            </a: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ARDA(NCT05225675)／EMPASSION(NCT06742190)／MoMeNtum(NCT06537999)；EAN Ongoing Guidelines(ean.org).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BD3EA"/>
                </a:solidFill>
                <a:latin typeface="Yu Gothic"/>
                <a:ea typeface="Yu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主要文献（2025–2026 アップデート）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E6DA4"/>
                </a:solidFill>
                <a:latin typeface="Yu Gothic"/>
                <a:ea typeface="Yu Gothic"/>
              </a:rPr>
              <a:t>10. </a:t>
            </a:r>
            <a:r>
              <a:rPr sz="1250" b="0">
                <a:solidFill>
                  <a:srgbClr val="222222"/>
                </a:solidFill>
                <a:latin typeface="Yu Gothic"/>
                <a:ea typeface="Yu Gothic"/>
              </a:rPr>
              <a:t>Rajabally YA, et al. Variably Defined CB, TD and Other Electrophysiological Abnormalities in MMN. Eur J Neurol 2025;32:e70361.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E6DA4"/>
                </a:solidFill>
                <a:latin typeface="Yu Gothic"/>
                <a:ea typeface="Yu Gothic"/>
              </a:rPr>
              <a:t>11. </a:t>
            </a:r>
            <a:r>
              <a:rPr sz="1250" b="0">
                <a:solidFill>
                  <a:srgbClr val="222222"/>
                </a:solidFill>
                <a:latin typeface="Yu Gothic"/>
                <a:ea typeface="Yu Gothic"/>
              </a:rPr>
              <a:t>Posa A, et al. Patterns of motor nerve demyelination and prognostic significance in MMN. IBRO Neurosci Rep 2026;20:474-479.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E6DA4"/>
                </a:solidFill>
                <a:latin typeface="Yu Gothic"/>
                <a:ea typeface="Yu Gothic"/>
              </a:rPr>
              <a:t>12. </a:t>
            </a:r>
            <a:r>
              <a:rPr sz="1250" b="0">
                <a:solidFill>
                  <a:srgbClr val="222222"/>
                </a:solidFill>
                <a:latin typeface="Yu Gothic"/>
                <a:ea typeface="Yu Gothic"/>
              </a:rPr>
              <a:t>Fang SY, et al. Differentiating MMN from hand-onset ALS. J Chin Med Assoc 2026;89:437-444.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E6DA4"/>
                </a:solidFill>
                <a:latin typeface="Yu Gothic"/>
                <a:ea typeface="Yu Gothic"/>
              </a:rPr>
              <a:t>13. </a:t>
            </a:r>
            <a:r>
              <a:rPr sz="1250" b="0">
                <a:solidFill>
                  <a:srgbClr val="222222"/>
                </a:solidFill>
                <a:latin typeface="Yu Gothic"/>
                <a:ea typeface="Yu Gothic"/>
              </a:rPr>
              <a:t>Arlt FA, et al. Septin multimer autoantibodies in severe motor neuropathy. Brain 2026;awag183.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E6DA4"/>
                </a:solidFill>
                <a:latin typeface="Yu Gothic"/>
                <a:ea typeface="Yu Gothic"/>
              </a:rPr>
              <a:t>14. </a:t>
            </a:r>
            <a:r>
              <a:rPr sz="1250" b="0">
                <a:solidFill>
                  <a:srgbClr val="222222"/>
                </a:solidFill>
                <a:latin typeface="Yu Gothic"/>
                <a:ea typeface="Yu Gothic"/>
              </a:rPr>
              <a:t>Niu J, et al. Nerve Ultrasound of MMN and Motor/Typical CIDP. Can J Neurol Sci 2025.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E6DA4"/>
                </a:solidFill>
                <a:latin typeface="Yu Gothic"/>
                <a:ea typeface="Yu Gothic"/>
              </a:rPr>
              <a:t>15. </a:t>
            </a:r>
            <a:r>
              <a:rPr sz="1250" b="0">
                <a:solidFill>
                  <a:srgbClr val="222222"/>
                </a:solidFill>
                <a:latin typeface="Yu Gothic"/>
                <a:ea typeface="Yu Gothic"/>
              </a:rPr>
              <a:t>Krijgsman D, et al. IgM Anti-Ganglioside Binding and Complement Activation in iPSC-MN Model for MMN. Neurol Neuroimmunol Neuroinflamm 2026;13:e200482.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E6DA4"/>
                </a:solidFill>
                <a:latin typeface="Yu Gothic"/>
                <a:ea typeface="Yu Gothic"/>
              </a:rPr>
              <a:t>16. </a:t>
            </a:r>
            <a:r>
              <a:rPr sz="1250" b="0">
                <a:solidFill>
                  <a:srgbClr val="222222"/>
                </a:solidFill>
                <a:latin typeface="Yu Gothic"/>
                <a:ea typeface="Yu Gothic"/>
              </a:rPr>
              <a:t>Shimizu F, et al. Blood-Nerve Barrier Breakdown Induced by IgG in CIDP and MMN. Int J Mol Sci 2026;27:1088.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E6DA4"/>
                </a:solidFill>
                <a:latin typeface="Yu Gothic"/>
                <a:ea typeface="Yu Gothic"/>
              </a:rPr>
              <a:t>17. </a:t>
            </a:r>
            <a:r>
              <a:rPr sz="1250" b="0">
                <a:solidFill>
                  <a:srgbClr val="222222"/>
                </a:solidFill>
                <a:latin typeface="Yu Gothic"/>
                <a:ea typeface="Yu Gothic"/>
              </a:rPr>
              <a:t>Zhou L, et al. IVIg frequency in MMN: nerve conduction outcomes. BMC Neurol 2026. ／ Noushad MA, et al. Long-Term Outcomes via MMN-RODS. JPNS 2025;30:e70079.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E6DA4"/>
                </a:solidFill>
                <a:latin typeface="Yu Gothic"/>
                <a:ea typeface="Yu Gothic"/>
              </a:rPr>
              <a:t>18. </a:t>
            </a:r>
            <a:r>
              <a:rPr sz="1250" b="0">
                <a:solidFill>
                  <a:srgbClr val="222222"/>
                </a:solidFill>
                <a:latin typeface="Yu Gothic"/>
                <a:ea typeface="Yu Gothic"/>
              </a:rPr>
              <a:t>Basta I, et al. Long-term motor stability but increasing non-motor burden in MMN. Front Hum Neurosci 2026;20:1824742. ／ Gingele S, et al. IV→SC Ig in CIDP and MMN. Neurol Ther 2026;15:165-177.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50" b="1">
                <a:solidFill>
                  <a:srgbClr val="2E6DA4"/>
                </a:solidFill>
                <a:latin typeface="Yu Gothic"/>
                <a:ea typeface="Yu Gothic"/>
              </a:rPr>
              <a:t>19. </a:t>
            </a:r>
            <a:r>
              <a:rPr sz="1250" b="0">
                <a:solidFill>
                  <a:srgbClr val="222222"/>
                </a:solidFill>
                <a:latin typeface="Yu Gothic"/>
                <a:ea typeface="Yu Gothic"/>
              </a:rPr>
              <a:t>Khateb M, Bril V. Nipocalimab and other FcRn blockers in neuromuscular disorders. Pharmacol Ther 2026;286:109071.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